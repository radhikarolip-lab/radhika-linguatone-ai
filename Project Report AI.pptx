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3087C-E581-F6B8-B7A7-3207C3B7D8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AF22B13-8157-8226-01C9-FACABE133A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05A050-A3DE-6594-4E8A-F7BE32550452}"/>
              </a:ext>
            </a:extLst>
          </p:cNvPr>
          <p:cNvSpPr>
            <a:spLocks noGrp="1"/>
          </p:cNvSpPr>
          <p:nvPr>
            <p:ph type="dt" sz="half" idx="10"/>
          </p:nvPr>
        </p:nvSpPr>
        <p:spPr/>
        <p:txBody>
          <a:bodyPr/>
          <a:lstStyle/>
          <a:p>
            <a:fld id="{81AE02FF-A067-46B8-8A36-EF67DE96A51E}" type="datetimeFigureOut">
              <a:rPr lang="en-IN" smtClean="0"/>
              <a:t>18-09-2026</a:t>
            </a:fld>
            <a:endParaRPr lang="en-IN"/>
          </a:p>
        </p:txBody>
      </p:sp>
      <p:sp>
        <p:nvSpPr>
          <p:cNvPr id="5" name="Footer Placeholder 4">
            <a:extLst>
              <a:ext uri="{FF2B5EF4-FFF2-40B4-BE49-F238E27FC236}">
                <a16:creationId xmlns:a16="http://schemas.microsoft.com/office/drawing/2014/main" id="{E45FC1C1-1B0C-DE6E-841F-6916223CDA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42FE76-1EC4-443A-38B5-7641F792118F}"/>
              </a:ext>
            </a:extLst>
          </p:cNvPr>
          <p:cNvSpPr>
            <a:spLocks noGrp="1"/>
          </p:cNvSpPr>
          <p:nvPr>
            <p:ph type="sldNum" sz="quarter" idx="12"/>
          </p:nvPr>
        </p:nvSpPr>
        <p:spPr/>
        <p:txBody>
          <a:bodyPr/>
          <a:lstStyle/>
          <a:p>
            <a:fld id="{B01BFDFC-DF12-4265-A409-9359859B31FA}" type="slidenum">
              <a:rPr lang="en-IN" smtClean="0"/>
              <a:t>‹#›</a:t>
            </a:fld>
            <a:endParaRPr lang="en-IN"/>
          </a:p>
        </p:txBody>
      </p:sp>
    </p:spTree>
    <p:extLst>
      <p:ext uri="{BB962C8B-B14F-4D97-AF65-F5344CB8AC3E}">
        <p14:creationId xmlns:p14="http://schemas.microsoft.com/office/powerpoint/2010/main" val="946248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AB982-1718-5A58-4A64-46A86BF507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5A63E2-D086-0A7E-3B94-2CAE6324D5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0F29E9-CDC7-06B5-BF27-BE5ACEE2F2CB}"/>
              </a:ext>
            </a:extLst>
          </p:cNvPr>
          <p:cNvSpPr>
            <a:spLocks noGrp="1"/>
          </p:cNvSpPr>
          <p:nvPr>
            <p:ph type="dt" sz="half" idx="10"/>
          </p:nvPr>
        </p:nvSpPr>
        <p:spPr/>
        <p:txBody>
          <a:bodyPr/>
          <a:lstStyle/>
          <a:p>
            <a:fld id="{81AE02FF-A067-46B8-8A36-EF67DE96A51E}" type="datetimeFigureOut">
              <a:rPr lang="en-IN" smtClean="0"/>
              <a:t>18-09-2026</a:t>
            </a:fld>
            <a:endParaRPr lang="en-IN"/>
          </a:p>
        </p:txBody>
      </p:sp>
      <p:sp>
        <p:nvSpPr>
          <p:cNvPr id="5" name="Footer Placeholder 4">
            <a:extLst>
              <a:ext uri="{FF2B5EF4-FFF2-40B4-BE49-F238E27FC236}">
                <a16:creationId xmlns:a16="http://schemas.microsoft.com/office/drawing/2014/main" id="{08938C4E-56A6-856D-0EE5-8B0D4A8E0F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C3BEE9-A700-FB15-57D6-92E4DB371D78}"/>
              </a:ext>
            </a:extLst>
          </p:cNvPr>
          <p:cNvSpPr>
            <a:spLocks noGrp="1"/>
          </p:cNvSpPr>
          <p:nvPr>
            <p:ph type="sldNum" sz="quarter" idx="12"/>
          </p:nvPr>
        </p:nvSpPr>
        <p:spPr/>
        <p:txBody>
          <a:bodyPr/>
          <a:lstStyle/>
          <a:p>
            <a:fld id="{B01BFDFC-DF12-4265-A409-9359859B31FA}" type="slidenum">
              <a:rPr lang="en-IN" smtClean="0"/>
              <a:t>‹#›</a:t>
            </a:fld>
            <a:endParaRPr lang="en-IN"/>
          </a:p>
        </p:txBody>
      </p:sp>
    </p:spTree>
    <p:extLst>
      <p:ext uri="{BB962C8B-B14F-4D97-AF65-F5344CB8AC3E}">
        <p14:creationId xmlns:p14="http://schemas.microsoft.com/office/powerpoint/2010/main" val="3102337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E24A7-FB11-2315-E2F5-38A0A25328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752865-E3BD-686F-850A-ECB7F34A45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7FFADB-5AE6-2B4E-7652-07F3CBF5CA26}"/>
              </a:ext>
            </a:extLst>
          </p:cNvPr>
          <p:cNvSpPr>
            <a:spLocks noGrp="1"/>
          </p:cNvSpPr>
          <p:nvPr>
            <p:ph type="dt" sz="half" idx="10"/>
          </p:nvPr>
        </p:nvSpPr>
        <p:spPr/>
        <p:txBody>
          <a:bodyPr/>
          <a:lstStyle/>
          <a:p>
            <a:fld id="{81AE02FF-A067-46B8-8A36-EF67DE96A51E}" type="datetimeFigureOut">
              <a:rPr lang="en-IN" smtClean="0"/>
              <a:t>18-09-2026</a:t>
            </a:fld>
            <a:endParaRPr lang="en-IN"/>
          </a:p>
        </p:txBody>
      </p:sp>
      <p:sp>
        <p:nvSpPr>
          <p:cNvPr id="5" name="Footer Placeholder 4">
            <a:extLst>
              <a:ext uri="{FF2B5EF4-FFF2-40B4-BE49-F238E27FC236}">
                <a16:creationId xmlns:a16="http://schemas.microsoft.com/office/drawing/2014/main" id="{D75ADC95-4392-4351-E71B-9FC3525CD7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0E2099-1CE8-1143-48C5-BC7DD6FA58DF}"/>
              </a:ext>
            </a:extLst>
          </p:cNvPr>
          <p:cNvSpPr>
            <a:spLocks noGrp="1"/>
          </p:cNvSpPr>
          <p:nvPr>
            <p:ph type="sldNum" sz="quarter" idx="12"/>
          </p:nvPr>
        </p:nvSpPr>
        <p:spPr/>
        <p:txBody>
          <a:bodyPr/>
          <a:lstStyle/>
          <a:p>
            <a:fld id="{B01BFDFC-DF12-4265-A409-9359859B31FA}" type="slidenum">
              <a:rPr lang="en-IN" smtClean="0"/>
              <a:t>‹#›</a:t>
            </a:fld>
            <a:endParaRPr lang="en-IN"/>
          </a:p>
        </p:txBody>
      </p:sp>
    </p:spTree>
    <p:extLst>
      <p:ext uri="{BB962C8B-B14F-4D97-AF65-F5344CB8AC3E}">
        <p14:creationId xmlns:p14="http://schemas.microsoft.com/office/powerpoint/2010/main" val="2424379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BC35C-ABAD-7C30-1F71-B69E20F61F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C7BB77-8639-9546-3C69-4FE8BFEE4C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451FAEB-F106-FBF3-727B-3F754128C0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885F66C-2C03-BD59-6658-B7981A06181F}"/>
              </a:ext>
            </a:extLst>
          </p:cNvPr>
          <p:cNvSpPr>
            <a:spLocks noGrp="1"/>
          </p:cNvSpPr>
          <p:nvPr>
            <p:ph type="dt" sz="half" idx="10"/>
          </p:nvPr>
        </p:nvSpPr>
        <p:spPr/>
        <p:txBody>
          <a:bodyPr/>
          <a:lstStyle/>
          <a:p>
            <a:fld id="{81AE02FF-A067-46B8-8A36-EF67DE96A51E}" type="datetimeFigureOut">
              <a:rPr lang="en-IN" smtClean="0"/>
              <a:t>18-09-2026</a:t>
            </a:fld>
            <a:endParaRPr lang="en-IN"/>
          </a:p>
        </p:txBody>
      </p:sp>
      <p:sp>
        <p:nvSpPr>
          <p:cNvPr id="6" name="Footer Placeholder 5">
            <a:extLst>
              <a:ext uri="{FF2B5EF4-FFF2-40B4-BE49-F238E27FC236}">
                <a16:creationId xmlns:a16="http://schemas.microsoft.com/office/drawing/2014/main" id="{93EBA7DE-68F8-F861-2753-B7E896AAA0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B285C5-2DE5-6AD7-5409-7EC533CABFAC}"/>
              </a:ext>
            </a:extLst>
          </p:cNvPr>
          <p:cNvSpPr>
            <a:spLocks noGrp="1"/>
          </p:cNvSpPr>
          <p:nvPr>
            <p:ph type="sldNum" sz="quarter" idx="12"/>
          </p:nvPr>
        </p:nvSpPr>
        <p:spPr/>
        <p:txBody>
          <a:bodyPr/>
          <a:lstStyle/>
          <a:p>
            <a:fld id="{B01BFDFC-DF12-4265-A409-9359859B31FA}" type="slidenum">
              <a:rPr lang="en-IN" smtClean="0"/>
              <a:t>‹#›</a:t>
            </a:fld>
            <a:endParaRPr lang="en-IN"/>
          </a:p>
        </p:txBody>
      </p:sp>
    </p:spTree>
    <p:extLst>
      <p:ext uri="{BB962C8B-B14F-4D97-AF65-F5344CB8AC3E}">
        <p14:creationId xmlns:p14="http://schemas.microsoft.com/office/powerpoint/2010/main" val="881652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3C8C6-5797-AF75-A8AF-66C7DE0E50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021027-3151-A869-A2FA-36D7CCDCD9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910AFC-1F9D-57EB-A9D9-3E78D2C7E1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6B24DB-605D-DB2A-3D0F-5E1E1F0F05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0D5BD8-F1FB-2B1D-8245-973378EDE8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0BFBA2-423F-7968-D724-0B71B8FF40C5}"/>
              </a:ext>
            </a:extLst>
          </p:cNvPr>
          <p:cNvSpPr>
            <a:spLocks noGrp="1"/>
          </p:cNvSpPr>
          <p:nvPr>
            <p:ph type="dt" sz="half" idx="10"/>
          </p:nvPr>
        </p:nvSpPr>
        <p:spPr/>
        <p:txBody>
          <a:bodyPr/>
          <a:lstStyle/>
          <a:p>
            <a:fld id="{81AE02FF-A067-46B8-8A36-EF67DE96A51E}" type="datetimeFigureOut">
              <a:rPr lang="en-IN" smtClean="0"/>
              <a:t>18-09-2026</a:t>
            </a:fld>
            <a:endParaRPr lang="en-IN"/>
          </a:p>
        </p:txBody>
      </p:sp>
      <p:sp>
        <p:nvSpPr>
          <p:cNvPr id="8" name="Footer Placeholder 7">
            <a:extLst>
              <a:ext uri="{FF2B5EF4-FFF2-40B4-BE49-F238E27FC236}">
                <a16:creationId xmlns:a16="http://schemas.microsoft.com/office/drawing/2014/main" id="{B96D3C4F-3DBB-8154-8A38-B75F170A14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6D2F55C-8E4D-FA67-027B-F36FB6658408}"/>
              </a:ext>
            </a:extLst>
          </p:cNvPr>
          <p:cNvSpPr>
            <a:spLocks noGrp="1"/>
          </p:cNvSpPr>
          <p:nvPr>
            <p:ph type="sldNum" sz="quarter" idx="12"/>
          </p:nvPr>
        </p:nvSpPr>
        <p:spPr/>
        <p:txBody>
          <a:bodyPr/>
          <a:lstStyle/>
          <a:p>
            <a:fld id="{B01BFDFC-DF12-4265-A409-9359859B31FA}" type="slidenum">
              <a:rPr lang="en-IN" smtClean="0"/>
              <a:t>‹#›</a:t>
            </a:fld>
            <a:endParaRPr lang="en-IN"/>
          </a:p>
        </p:txBody>
      </p:sp>
    </p:spTree>
    <p:extLst>
      <p:ext uri="{BB962C8B-B14F-4D97-AF65-F5344CB8AC3E}">
        <p14:creationId xmlns:p14="http://schemas.microsoft.com/office/powerpoint/2010/main" val="4222855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DC97-EBE5-3C4A-2B6A-891F0B1FB4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2878BD-0461-55A7-0F71-FCB2EC71AD0A}"/>
              </a:ext>
            </a:extLst>
          </p:cNvPr>
          <p:cNvSpPr>
            <a:spLocks noGrp="1"/>
          </p:cNvSpPr>
          <p:nvPr>
            <p:ph type="dt" sz="half" idx="10"/>
          </p:nvPr>
        </p:nvSpPr>
        <p:spPr/>
        <p:txBody>
          <a:bodyPr/>
          <a:lstStyle/>
          <a:p>
            <a:fld id="{81AE02FF-A067-46B8-8A36-EF67DE96A51E}" type="datetimeFigureOut">
              <a:rPr lang="en-IN" smtClean="0"/>
              <a:t>18-09-2026</a:t>
            </a:fld>
            <a:endParaRPr lang="en-IN"/>
          </a:p>
        </p:txBody>
      </p:sp>
      <p:sp>
        <p:nvSpPr>
          <p:cNvPr id="4" name="Footer Placeholder 3">
            <a:extLst>
              <a:ext uri="{FF2B5EF4-FFF2-40B4-BE49-F238E27FC236}">
                <a16:creationId xmlns:a16="http://schemas.microsoft.com/office/drawing/2014/main" id="{6D37AE8E-43B7-899A-8A7F-35F05D07537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6C3A1DD-1094-F065-DC33-CC5C6DF128E5}"/>
              </a:ext>
            </a:extLst>
          </p:cNvPr>
          <p:cNvSpPr>
            <a:spLocks noGrp="1"/>
          </p:cNvSpPr>
          <p:nvPr>
            <p:ph type="sldNum" sz="quarter" idx="12"/>
          </p:nvPr>
        </p:nvSpPr>
        <p:spPr/>
        <p:txBody>
          <a:bodyPr/>
          <a:lstStyle/>
          <a:p>
            <a:fld id="{B01BFDFC-DF12-4265-A409-9359859B31FA}" type="slidenum">
              <a:rPr lang="en-IN" smtClean="0"/>
              <a:t>‹#›</a:t>
            </a:fld>
            <a:endParaRPr lang="en-IN"/>
          </a:p>
        </p:txBody>
      </p:sp>
    </p:spTree>
    <p:extLst>
      <p:ext uri="{BB962C8B-B14F-4D97-AF65-F5344CB8AC3E}">
        <p14:creationId xmlns:p14="http://schemas.microsoft.com/office/powerpoint/2010/main" val="3759695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986223-137A-2679-37FE-6FE7EB5DDDB2}"/>
              </a:ext>
            </a:extLst>
          </p:cNvPr>
          <p:cNvSpPr>
            <a:spLocks noGrp="1"/>
          </p:cNvSpPr>
          <p:nvPr>
            <p:ph type="dt" sz="half" idx="10"/>
          </p:nvPr>
        </p:nvSpPr>
        <p:spPr/>
        <p:txBody>
          <a:bodyPr/>
          <a:lstStyle/>
          <a:p>
            <a:fld id="{81AE02FF-A067-46B8-8A36-EF67DE96A51E}" type="datetimeFigureOut">
              <a:rPr lang="en-IN" smtClean="0"/>
              <a:t>18-09-2026</a:t>
            </a:fld>
            <a:endParaRPr lang="en-IN"/>
          </a:p>
        </p:txBody>
      </p:sp>
      <p:sp>
        <p:nvSpPr>
          <p:cNvPr id="3" name="Footer Placeholder 2">
            <a:extLst>
              <a:ext uri="{FF2B5EF4-FFF2-40B4-BE49-F238E27FC236}">
                <a16:creationId xmlns:a16="http://schemas.microsoft.com/office/drawing/2014/main" id="{152DA74F-B80E-81C2-AEFC-31FB6B4EEC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3F8779-7DCD-12FC-7CF2-3EE80DA8BCB4}"/>
              </a:ext>
            </a:extLst>
          </p:cNvPr>
          <p:cNvSpPr>
            <a:spLocks noGrp="1"/>
          </p:cNvSpPr>
          <p:nvPr>
            <p:ph type="sldNum" sz="quarter" idx="12"/>
          </p:nvPr>
        </p:nvSpPr>
        <p:spPr/>
        <p:txBody>
          <a:bodyPr/>
          <a:lstStyle/>
          <a:p>
            <a:fld id="{B01BFDFC-DF12-4265-A409-9359859B31FA}" type="slidenum">
              <a:rPr lang="en-IN" smtClean="0"/>
              <a:t>‹#›</a:t>
            </a:fld>
            <a:endParaRPr lang="en-IN"/>
          </a:p>
        </p:txBody>
      </p:sp>
    </p:spTree>
    <p:extLst>
      <p:ext uri="{BB962C8B-B14F-4D97-AF65-F5344CB8AC3E}">
        <p14:creationId xmlns:p14="http://schemas.microsoft.com/office/powerpoint/2010/main" val="1517311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2968C-3FF7-A0CD-7C17-AC54A48AB5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6D56F8C-94FB-F9A9-873F-8B2437450A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8A006AE-E544-4759-1D8A-B63ADD1C70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A4C036-6E0C-AD9E-3BA9-1374E97129A2}"/>
              </a:ext>
            </a:extLst>
          </p:cNvPr>
          <p:cNvSpPr>
            <a:spLocks noGrp="1"/>
          </p:cNvSpPr>
          <p:nvPr>
            <p:ph type="dt" sz="half" idx="10"/>
          </p:nvPr>
        </p:nvSpPr>
        <p:spPr/>
        <p:txBody>
          <a:bodyPr/>
          <a:lstStyle/>
          <a:p>
            <a:fld id="{81AE02FF-A067-46B8-8A36-EF67DE96A51E}" type="datetimeFigureOut">
              <a:rPr lang="en-IN" smtClean="0"/>
              <a:t>18-09-2026</a:t>
            </a:fld>
            <a:endParaRPr lang="en-IN"/>
          </a:p>
        </p:txBody>
      </p:sp>
      <p:sp>
        <p:nvSpPr>
          <p:cNvPr id="6" name="Footer Placeholder 5">
            <a:extLst>
              <a:ext uri="{FF2B5EF4-FFF2-40B4-BE49-F238E27FC236}">
                <a16:creationId xmlns:a16="http://schemas.microsoft.com/office/drawing/2014/main" id="{BC79A6C4-0F9B-08B3-2FC7-73032E62B8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87D8BC-DBA2-1607-E7B4-314F8DC64851}"/>
              </a:ext>
            </a:extLst>
          </p:cNvPr>
          <p:cNvSpPr>
            <a:spLocks noGrp="1"/>
          </p:cNvSpPr>
          <p:nvPr>
            <p:ph type="sldNum" sz="quarter" idx="12"/>
          </p:nvPr>
        </p:nvSpPr>
        <p:spPr/>
        <p:txBody>
          <a:bodyPr/>
          <a:lstStyle/>
          <a:p>
            <a:fld id="{B01BFDFC-DF12-4265-A409-9359859B31FA}" type="slidenum">
              <a:rPr lang="en-IN" smtClean="0"/>
              <a:t>‹#›</a:t>
            </a:fld>
            <a:endParaRPr lang="en-IN"/>
          </a:p>
        </p:txBody>
      </p:sp>
    </p:spTree>
    <p:extLst>
      <p:ext uri="{BB962C8B-B14F-4D97-AF65-F5344CB8AC3E}">
        <p14:creationId xmlns:p14="http://schemas.microsoft.com/office/powerpoint/2010/main" val="3228311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1C411-1160-1B91-51A7-61CB9DD966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9D4C764-03C5-4676-F85F-303DFB1D1C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54C304B-8CB7-4789-E9F1-B499A5B1BB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E96A12-D8E1-8F1E-791F-C25E79515EAE}"/>
              </a:ext>
            </a:extLst>
          </p:cNvPr>
          <p:cNvSpPr>
            <a:spLocks noGrp="1"/>
          </p:cNvSpPr>
          <p:nvPr>
            <p:ph type="dt" sz="half" idx="10"/>
          </p:nvPr>
        </p:nvSpPr>
        <p:spPr/>
        <p:txBody>
          <a:bodyPr/>
          <a:lstStyle/>
          <a:p>
            <a:fld id="{81AE02FF-A067-46B8-8A36-EF67DE96A51E}" type="datetimeFigureOut">
              <a:rPr lang="en-IN" smtClean="0"/>
              <a:t>18-09-2026</a:t>
            </a:fld>
            <a:endParaRPr lang="en-IN"/>
          </a:p>
        </p:txBody>
      </p:sp>
      <p:sp>
        <p:nvSpPr>
          <p:cNvPr id="6" name="Footer Placeholder 5">
            <a:extLst>
              <a:ext uri="{FF2B5EF4-FFF2-40B4-BE49-F238E27FC236}">
                <a16:creationId xmlns:a16="http://schemas.microsoft.com/office/drawing/2014/main" id="{2B465A70-FED3-DD76-7597-22A93BA06C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37A257-D921-F76E-3B99-65D2EB2A41F8}"/>
              </a:ext>
            </a:extLst>
          </p:cNvPr>
          <p:cNvSpPr>
            <a:spLocks noGrp="1"/>
          </p:cNvSpPr>
          <p:nvPr>
            <p:ph type="sldNum" sz="quarter" idx="12"/>
          </p:nvPr>
        </p:nvSpPr>
        <p:spPr/>
        <p:txBody>
          <a:bodyPr/>
          <a:lstStyle/>
          <a:p>
            <a:fld id="{B01BFDFC-DF12-4265-A409-9359859B31FA}" type="slidenum">
              <a:rPr lang="en-IN" smtClean="0"/>
              <a:t>‹#›</a:t>
            </a:fld>
            <a:endParaRPr lang="en-IN"/>
          </a:p>
        </p:txBody>
      </p:sp>
    </p:spTree>
    <p:extLst>
      <p:ext uri="{BB962C8B-B14F-4D97-AF65-F5344CB8AC3E}">
        <p14:creationId xmlns:p14="http://schemas.microsoft.com/office/powerpoint/2010/main" val="3321526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46563-1FCB-2C08-A06A-BA03D59F5B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E0F66C-E9E7-9A15-4744-A3FB05285E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6768CD-DEC0-70AF-F2CF-538DBA663A22}"/>
              </a:ext>
            </a:extLst>
          </p:cNvPr>
          <p:cNvSpPr>
            <a:spLocks noGrp="1"/>
          </p:cNvSpPr>
          <p:nvPr>
            <p:ph type="dt" sz="half" idx="10"/>
          </p:nvPr>
        </p:nvSpPr>
        <p:spPr/>
        <p:txBody>
          <a:bodyPr/>
          <a:lstStyle/>
          <a:p>
            <a:fld id="{81AE02FF-A067-46B8-8A36-EF67DE96A51E}" type="datetimeFigureOut">
              <a:rPr lang="en-IN" smtClean="0"/>
              <a:t>18-09-2026</a:t>
            </a:fld>
            <a:endParaRPr lang="en-IN"/>
          </a:p>
        </p:txBody>
      </p:sp>
      <p:sp>
        <p:nvSpPr>
          <p:cNvPr id="5" name="Footer Placeholder 4">
            <a:extLst>
              <a:ext uri="{FF2B5EF4-FFF2-40B4-BE49-F238E27FC236}">
                <a16:creationId xmlns:a16="http://schemas.microsoft.com/office/drawing/2014/main" id="{EEAFE1CD-4D35-FEA0-8D95-B5ECDB1615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64BF0A-E4B2-319E-DB2F-82BCCA3DEB55}"/>
              </a:ext>
            </a:extLst>
          </p:cNvPr>
          <p:cNvSpPr>
            <a:spLocks noGrp="1"/>
          </p:cNvSpPr>
          <p:nvPr>
            <p:ph type="sldNum" sz="quarter" idx="12"/>
          </p:nvPr>
        </p:nvSpPr>
        <p:spPr/>
        <p:txBody>
          <a:bodyPr/>
          <a:lstStyle/>
          <a:p>
            <a:fld id="{B01BFDFC-DF12-4265-A409-9359859B31FA}" type="slidenum">
              <a:rPr lang="en-IN" smtClean="0"/>
              <a:t>‹#›</a:t>
            </a:fld>
            <a:endParaRPr lang="en-IN"/>
          </a:p>
        </p:txBody>
      </p:sp>
    </p:spTree>
    <p:extLst>
      <p:ext uri="{BB962C8B-B14F-4D97-AF65-F5344CB8AC3E}">
        <p14:creationId xmlns:p14="http://schemas.microsoft.com/office/powerpoint/2010/main" val="763077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F8EE0-B4C9-0D19-CA37-BE09048127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7C0918-9A9F-7EC8-77F8-C5AE07C755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059F7F-EAC0-17EB-E8CC-ACB7A24034B6}"/>
              </a:ext>
            </a:extLst>
          </p:cNvPr>
          <p:cNvSpPr>
            <a:spLocks noGrp="1"/>
          </p:cNvSpPr>
          <p:nvPr>
            <p:ph type="dt" sz="half" idx="10"/>
          </p:nvPr>
        </p:nvSpPr>
        <p:spPr/>
        <p:txBody>
          <a:bodyPr/>
          <a:lstStyle/>
          <a:p>
            <a:fld id="{81AE02FF-A067-46B8-8A36-EF67DE96A51E}" type="datetimeFigureOut">
              <a:rPr lang="en-IN" smtClean="0"/>
              <a:t>18-09-2026</a:t>
            </a:fld>
            <a:endParaRPr lang="en-IN"/>
          </a:p>
        </p:txBody>
      </p:sp>
      <p:sp>
        <p:nvSpPr>
          <p:cNvPr id="5" name="Footer Placeholder 4">
            <a:extLst>
              <a:ext uri="{FF2B5EF4-FFF2-40B4-BE49-F238E27FC236}">
                <a16:creationId xmlns:a16="http://schemas.microsoft.com/office/drawing/2014/main" id="{30CD5FED-B60E-2602-8F80-707F092C08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9B40D3-1377-C470-4EDC-3FD389608503}"/>
              </a:ext>
            </a:extLst>
          </p:cNvPr>
          <p:cNvSpPr>
            <a:spLocks noGrp="1"/>
          </p:cNvSpPr>
          <p:nvPr>
            <p:ph type="sldNum" sz="quarter" idx="12"/>
          </p:nvPr>
        </p:nvSpPr>
        <p:spPr/>
        <p:txBody>
          <a:bodyPr/>
          <a:lstStyle/>
          <a:p>
            <a:fld id="{B01BFDFC-DF12-4265-A409-9359859B31FA}" type="slidenum">
              <a:rPr lang="en-IN" smtClean="0"/>
              <a:t>‹#›</a:t>
            </a:fld>
            <a:endParaRPr lang="en-IN"/>
          </a:p>
        </p:txBody>
      </p:sp>
    </p:spTree>
    <p:extLst>
      <p:ext uri="{BB962C8B-B14F-4D97-AF65-F5344CB8AC3E}">
        <p14:creationId xmlns:p14="http://schemas.microsoft.com/office/powerpoint/2010/main" val="1717772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3FCB9D-75DB-4F7B-84B6-525642AADB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5B3597-F4E5-04E2-84E2-2DF76C9003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1E35FA-3741-7E30-7144-F2834B31D6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AE02FF-A067-46B8-8A36-EF67DE96A51E}" type="datetimeFigureOut">
              <a:rPr lang="en-IN" smtClean="0"/>
              <a:t>18-09-2026</a:t>
            </a:fld>
            <a:endParaRPr lang="en-IN"/>
          </a:p>
        </p:txBody>
      </p:sp>
      <p:sp>
        <p:nvSpPr>
          <p:cNvPr id="5" name="Footer Placeholder 4">
            <a:extLst>
              <a:ext uri="{FF2B5EF4-FFF2-40B4-BE49-F238E27FC236}">
                <a16:creationId xmlns:a16="http://schemas.microsoft.com/office/drawing/2014/main" id="{9A1B9997-A6B5-E5B3-FE17-17353CF224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8A1BE1D-447B-538A-11BD-8746AE3AEF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1BFDFC-DF12-4265-A409-9359859B31FA}" type="slidenum">
              <a:rPr lang="en-IN" smtClean="0"/>
              <a:t>‹#›</a:t>
            </a:fld>
            <a:endParaRPr lang="en-IN"/>
          </a:p>
        </p:txBody>
      </p:sp>
    </p:spTree>
    <p:extLst>
      <p:ext uri="{BB962C8B-B14F-4D97-AF65-F5344CB8AC3E}">
        <p14:creationId xmlns:p14="http://schemas.microsoft.com/office/powerpoint/2010/main" val="3294850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2E99AF-C441-E4E5-EB84-3836CD09C5C2}"/>
              </a:ext>
            </a:extLst>
          </p:cNvPr>
          <p:cNvPicPr>
            <a:picLocks noChangeAspect="1"/>
          </p:cNvPicPr>
          <p:nvPr/>
        </p:nvPicPr>
        <p:blipFill>
          <a:blip r:embed="rId2"/>
          <a:stretch>
            <a:fillRect/>
          </a:stretch>
        </p:blipFill>
        <p:spPr>
          <a:xfrm>
            <a:off x="4738323" y="116728"/>
            <a:ext cx="2311406" cy="685859"/>
          </a:xfrm>
          <a:prstGeom prst="rect">
            <a:avLst/>
          </a:prstGeom>
        </p:spPr>
      </p:pic>
      <p:sp>
        <p:nvSpPr>
          <p:cNvPr id="5" name="TextBox 4">
            <a:extLst>
              <a:ext uri="{FF2B5EF4-FFF2-40B4-BE49-F238E27FC236}">
                <a16:creationId xmlns:a16="http://schemas.microsoft.com/office/drawing/2014/main" id="{71479C48-3C3C-F5F3-C318-5E67A4655E80}"/>
              </a:ext>
            </a:extLst>
          </p:cNvPr>
          <p:cNvSpPr txBox="1"/>
          <p:nvPr/>
        </p:nvSpPr>
        <p:spPr>
          <a:xfrm>
            <a:off x="4454013" y="1014869"/>
            <a:ext cx="6096000" cy="461665"/>
          </a:xfrm>
          <a:prstGeom prst="rect">
            <a:avLst/>
          </a:prstGeom>
          <a:noFill/>
        </p:spPr>
        <p:txBody>
          <a:bodyPr wrap="square">
            <a:spAutoFit/>
          </a:bodyPr>
          <a:lstStyle/>
          <a:p>
            <a:r>
              <a:rPr lang="en-IN" sz="2400" b="1" dirty="0">
                <a:solidFill>
                  <a:schemeClr val="accent1">
                    <a:lumMod val="50000"/>
                  </a:schemeClr>
                </a:solidFill>
              </a:rPr>
              <a:t>Project Report: </a:t>
            </a:r>
            <a:r>
              <a:rPr lang="en-IN" sz="2400" b="1" dirty="0" err="1">
                <a:solidFill>
                  <a:schemeClr val="accent1">
                    <a:lumMod val="50000"/>
                  </a:schemeClr>
                </a:solidFill>
              </a:rPr>
              <a:t>LinguaTone</a:t>
            </a:r>
            <a:r>
              <a:rPr lang="en-IN" sz="2400" b="1" dirty="0">
                <a:solidFill>
                  <a:schemeClr val="accent1">
                    <a:lumMod val="50000"/>
                  </a:schemeClr>
                </a:solidFill>
              </a:rPr>
              <a:t> AI </a:t>
            </a:r>
          </a:p>
        </p:txBody>
      </p:sp>
      <p:sp>
        <p:nvSpPr>
          <p:cNvPr id="7" name="TextBox 6">
            <a:extLst>
              <a:ext uri="{FF2B5EF4-FFF2-40B4-BE49-F238E27FC236}">
                <a16:creationId xmlns:a16="http://schemas.microsoft.com/office/drawing/2014/main" id="{819C3AD1-B21C-E3A0-934F-541B1B659341}"/>
              </a:ext>
            </a:extLst>
          </p:cNvPr>
          <p:cNvSpPr txBox="1"/>
          <p:nvPr/>
        </p:nvSpPr>
        <p:spPr>
          <a:xfrm>
            <a:off x="1170039" y="1753198"/>
            <a:ext cx="6096000" cy="646331"/>
          </a:xfrm>
          <a:prstGeom prst="rect">
            <a:avLst/>
          </a:prstGeom>
          <a:noFill/>
        </p:spPr>
        <p:txBody>
          <a:bodyPr wrap="square">
            <a:spAutoFit/>
          </a:bodyPr>
          <a:lstStyle/>
          <a:p>
            <a:r>
              <a:rPr lang="en-IN" b="1" dirty="0"/>
              <a:t>Name : Radhika Parashar</a:t>
            </a:r>
          </a:p>
          <a:p>
            <a:r>
              <a:rPr lang="en-IN" b="1" dirty="0"/>
              <a:t>Reg.no :25MIM10246</a:t>
            </a:r>
          </a:p>
        </p:txBody>
      </p:sp>
      <p:sp>
        <p:nvSpPr>
          <p:cNvPr id="9" name="TextBox 8">
            <a:extLst>
              <a:ext uri="{FF2B5EF4-FFF2-40B4-BE49-F238E27FC236}">
                <a16:creationId xmlns:a16="http://schemas.microsoft.com/office/drawing/2014/main" id="{96710FE9-1EA9-5E40-5A54-30EE1949306E}"/>
              </a:ext>
            </a:extLst>
          </p:cNvPr>
          <p:cNvSpPr txBox="1"/>
          <p:nvPr/>
        </p:nvSpPr>
        <p:spPr>
          <a:xfrm>
            <a:off x="1091381" y="2676194"/>
            <a:ext cx="10432026" cy="3693319"/>
          </a:xfrm>
          <a:prstGeom prst="rect">
            <a:avLst/>
          </a:prstGeom>
          <a:noFill/>
        </p:spPr>
        <p:txBody>
          <a:bodyPr wrap="square">
            <a:spAutoFit/>
          </a:bodyPr>
          <a:lstStyle/>
          <a:p>
            <a:pPr marL="342900" indent="-342900">
              <a:buAutoNum type="arabicPeriod"/>
            </a:pPr>
            <a:r>
              <a:rPr lang="en-IN" b="1" dirty="0"/>
              <a:t>Introduction</a:t>
            </a:r>
          </a:p>
          <a:p>
            <a:pPr marL="342900" indent="-342900">
              <a:buAutoNum type="arabicPeriod"/>
            </a:pPr>
            <a:endParaRPr lang="en-IN" b="1" dirty="0"/>
          </a:p>
          <a:p>
            <a:r>
              <a:rPr lang="en-IN" dirty="0"/>
              <a:t> In today's digital world, effective communication plays a crucial role in both personal and professional life. One of the key aspects of communication is tone, which can significantly impact how a message is perceived.</a:t>
            </a:r>
          </a:p>
          <a:p>
            <a:r>
              <a:rPr lang="en-IN" dirty="0"/>
              <a:t>                                 </a:t>
            </a:r>
          </a:p>
          <a:p>
            <a:r>
              <a:rPr lang="en-IN" dirty="0"/>
              <a:t> Many individuals, especially students and language learners, struggle to differentiate between formal (professional) and informal (personal) communication styles. This often leads to misunderstandings and lack of confidence in real-world interactions.</a:t>
            </a:r>
          </a:p>
          <a:p>
            <a:endParaRPr lang="en-IN" dirty="0"/>
          </a:p>
          <a:p>
            <a:r>
              <a:rPr lang="en-IN" dirty="0"/>
              <a:t> </a:t>
            </a:r>
            <a:r>
              <a:rPr lang="en-IN" dirty="0" err="1"/>
              <a:t>LinguaTone</a:t>
            </a:r>
            <a:r>
              <a:rPr lang="en-IN" dirty="0"/>
              <a:t> AI is developed as a solution to this problem. It is an AI-based chatbot that allows users to interact and learn how different tones are used in communication. By providing responses in both professional and personal tones along with explanations, the system helps users improve their communication skills in an interactive and practical way. </a:t>
            </a:r>
          </a:p>
        </p:txBody>
      </p:sp>
    </p:spTree>
    <p:extLst>
      <p:ext uri="{BB962C8B-B14F-4D97-AF65-F5344CB8AC3E}">
        <p14:creationId xmlns:p14="http://schemas.microsoft.com/office/powerpoint/2010/main" val="1274999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7171B1-8000-C5F7-F459-D0F39734624C}"/>
              </a:ext>
            </a:extLst>
          </p:cNvPr>
          <p:cNvSpPr txBox="1"/>
          <p:nvPr/>
        </p:nvSpPr>
        <p:spPr>
          <a:xfrm>
            <a:off x="1111044" y="450192"/>
            <a:ext cx="10078065" cy="1754326"/>
          </a:xfrm>
          <a:prstGeom prst="rect">
            <a:avLst/>
          </a:prstGeom>
          <a:noFill/>
        </p:spPr>
        <p:txBody>
          <a:bodyPr wrap="square">
            <a:spAutoFit/>
          </a:bodyPr>
          <a:lstStyle/>
          <a:p>
            <a:r>
              <a:rPr lang="en-IN" b="1" dirty="0"/>
              <a:t>2. Objective</a:t>
            </a:r>
          </a:p>
          <a:p>
            <a:endParaRPr lang="en-IN" dirty="0"/>
          </a:p>
          <a:p>
            <a:r>
              <a:rPr lang="en-IN" dirty="0"/>
              <a:t> The objective of this project is to develop an AI-based chatbot that helps users understand and practice different communication tones, specifically Professional and Personal (casual/local) tones. </a:t>
            </a:r>
          </a:p>
          <a:p>
            <a:endParaRPr lang="en-IN" dirty="0"/>
          </a:p>
          <a:p>
            <a:r>
              <a:rPr lang="en-IN" dirty="0"/>
              <a:t>The system aims to improve users' real-world communication skills through interactive conversations. </a:t>
            </a:r>
          </a:p>
        </p:txBody>
      </p:sp>
      <p:sp>
        <p:nvSpPr>
          <p:cNvPr id="5" name="TextBox 4">
            <a:extLst>
              <a:ext uri="{FF2B5EF4-FFF2-40B4-BE49-F238E27FC236}">
                <a16:creationId xmlns:a16="http://schemas.microsoft.com/office/drawing/2014/main" id="{C44DC894-8DDA-0653-7E59-F8DE34F7F1B6}"/>
              </a:ext>
            </a:extLst>
          </p:cNvPr>
          <p:cNvSpPr txBox="1"/>
          <p:nvPr/>
        </p:nvSpPr>
        <p:spPr>
          <a:xfrm>
            <a:off x="1248697" y="3113886"/>
            <a:ext cx="9940412" cy="3139321"/>
          </a:xfrm>
          <a:prstGeom prst="rect">
            <a:avLst/>
          </a:prstGeom>
          <a:noFill/>
        </p:spPr>
        <p:txBody>
          <a:bodyPr wrap="square">
            <a:spAutoFit/>
          </a:bodyPr>
          <a:lstStyle/>
          <a:p>
            <a:r>
              <a:rPr lang="en-IN" b="1" dirty="0"/>
              <a:t>3. Problem Statement </a:t>
            </a:r>
          </a:p>
          <a:p>
            <a:r>
              <a:rPr lang="en-IN" dirty="0"/>
              <a:t>Many language learners and individuals face difficulty in distinguishing between formal (professional) and informal (personal) communication styles.</a:t>
            </a:r>
          </a:p>
          <a:p>
            <a:endParaRPr lang="en-IN" dirty="0"/>
          </a:p>
          <a:p>
            <a:r>
              <a:rPr lang="en-IN" dirty="0"/>
              <a:t> This creates problems in:</a:t>
            </a:r>
          </a:p>
          <a:p>
            <a:endParaRPr lang="en-IN" dirty="0"/>
          </a:p>
          <a:p>
            <a:r>
              <a:rPr lang="en-IN" dirty="0"/>
              <a:t>    • Workplace communication </a:t>
            </a:r>
          </a:p>
          <a:p>
            <a:r>
              <a:rPr lang="en-IN" dirty="0"/>
              <a:t>    • Social interactions </a:t>
            </a:r>
          </a:p>
          <a:p>
            <a:r>
              <a:rPr lang="en-IN" dirty="0"/>
              <a:t>    • Building a professional image </a:t>
            </a:r>
          </a:p>
          <a:p>
            <a:endParaRPr lang="en-IN" dirty="0"/>
          </a:p>
          <a:p>
            <a:r>
              <a:rPr lang="en-IN" dirty="0"/>
              <a:t>There is a lack of simple tools that allow users to practice tone-based communication interactively.</a:t>
            </a:r>
          </a:p>
        </p:txBody>
      </p:sp>
    </p:spTree>
    <p:extLst>
      <p:ext uri="{BB962C8B-B14F-4D97-AF65-F5344CB8AC3E}">
        <p14:creationId xmlns:p14="http://schemas.microsoft.com/office/powerpoint/2010/main" val="3360252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471668-903C-CCA1-2028-5E96BEBB7BAC}"/>
              </a:ext>
            </a:extLst>
          </p:cNvPr>
          <p:cNvSpPr txBox="1"/>
          <p:nvPr/>
        </p:nvSpPr>
        <p:spPr>
          <a:xfrm>
            <a:off x="1022555" y="515626"/>
            <a:ext cx="10146890" cy="5909310"/>
          </a:xfrm>
          <a:prstGeom prst="rect">
            <a:avLst/>
          </a:prstGeom>
          <a:noFill/>
        </p:spPr>
        <p:txBody>
          <a:bodyPr wrap="square">
            <a:spAutoFit/>
          </a:bodyPr>
          <a:lstStyle/>
          <a:p>
            <a:r>
              <a:rPr lang="en-IN" b="1" dirty="0"/>
              <a:t>4. Proposed Solution</a:t>
            </a:r>
          </a:p>
          <a:p>
            <a:endParaRPr lang="en-IN" b="1" dirty="0"/>
          </a:p>
          <a:p>
            <a:r>
              <a:rPr lang="en-IN" dirty="0"/>
              <a:t> To solve this problem, we developed </a:t>
            </a:r>
            <a:r>
              <a:rPr lang="en-IN" dirty="0" err="1"/>
              <a:t>LinguaTone</a:t>
            </a:r>
            <a:r>
              <a:rPr lang="en-IN" dirty="0"/>
              <a:t> AI, a chatbot that:</a:t>
            </a:r>
          </a:p>
          <a:p>
            <a:endParaRPr lang="en-IN" dirty="0"/>
          </a:p>
          <a:p>
            <a:r>
              <a:rPr lang="en-IN" dirty="0"/>
              <a:t>   • Takes user input </a:t>
            </a:r>
          </a:p>
          <a:p>
            <a:r>
              <a:rPr lang="en-IN" dirty="0"/>
              <a:t>   • Allows selection of communication tone </a:t>
            </a:r>
          </a:p>
          <a:p>
            <a:r>
              <a:rPr lang="en-IN" dirty="0"/>
              <a:t>   • Generates responses based on selected tone </a:t>
            </a:r>
          </a:p>
          <a:p>
            <a:r>
              <a:rPr lang="en-IN" dirty="0"/>
              <a:t>   • Provides explanation of tone usage.</a:t>
            </a:r>
          </a:p>
          <a:p>
            <a:endParaRPr lang="en-IN" dirty="0"/>
          </a:p>
          <a:p>
            <a:r>
              <a:rPr lang="en-IN" dirty="0"/>
              <a:t> This helps users learn by interaction, making the process practical and engaging.</a:t>
            </a:r>
          </a:p>
          <a:p>
            <a:r>
              <a:rPr lang="en-IN" dirty="0"/>
              <a:t> </a:t>
            </a:r>
          </a:p>
          <a:p>
            <a:endParaRPr lang="en-IN" dirty="0"/>
          </a:p>
          <a:p>
            <a:r>
              <a:rPr lang="en-IN" b="1" dirty="0"/>
              <a:t>5. Technologies Used </a:t>
            </a:r>
          </a:p>
          <a:p>
            <a:endParaRPr lang="en-IN" b="1" dirty="0"/>
          </a:p>
          <a:p>
            <a:r>
              <a:rPr lang="en-IN" dirty="0"/>
              <a:t>    • Python – Core programming language </a:t>
            </a:r>
          </a:p>
          <a:p>
            <a:r>
              <a:rPr lang="en-IN" dirty="0"/>
              <a:t>    • </a:t>
            </a:r>
            <a:r>
              <a:rPr lang="en-IN" dirty="0" err="1"/>
              <a:t>Streamlit</a:t>
            </a:r>
            <a:r>
              <a:rPr lang="en-IN" dirty="0"/>
              <a:t> – For building the user interface</a:t>
            </a:r>
          </a:p>
          <a:p>
            <a:r>
              <a:rPr lang="en-IN" dirty="0"/>
              <a:t>    • JSON – For storing predefined responses </a:t>
            </a:r>
          </a:p>
          <a:p>
            <a:r>
              <a:rPr lang="en-IN" dirty="0"/>
              <a:t>    • GitHub – Version control and project hosting </a:t>
            </a:r>
          </a:p>
          <a:p>
            <a:r>
              <a:rPr lang="en-IN" dirty="0"/>
              <a:t>    • </a:t>
            </a:r>
            <a:r>
              <a:rPr lang="en-IN" dirty="0" err="1"/>
              <a:t>Streamlit</a:t>
            </a:r>
            <a:r>
              <a:rPr lang="en-IN" dirty="0"/>
              <a:t> Cloud – Deployment of the application </a:t>
            </a:r>
          </a:p>
          <a:p>
            <a:endParaRPr lang="en-IN" dirty="0"/>
          </a:p>
          <a:p>
            <a:endParaRPr lang="en-IN" dirty="0"/>
          </a:p>
        </p:txBody>
      </p:sp>
    </p:spTree>
    <p:extLst>
      <p:ext uri="{BB962C8B-B14F-4D97-AF65-F5344CB8AC3E}">
        <p14:creationId xmlns:p14="http://schemas.microsoft.com/office/powerpoint/2010/main" val="1291351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6D2946-A679-5D84-08EF-1C63F0B64C69}"/>
              </a:ext>
            </a:extLst>
          </p:cNvPr>
          <p:cNvSpPr txBox="1"/>
          <p:nvPr/>
        </p:nvSpPr>
        <p:spPr>
          <a:xfrm>
            <a:off x="825909" y="781097"/>
            <a:ext cx="10540181" cy="5355312"/>
          </a:xfrm>
          <a:prstGeom prst="rect">
            <a:avLst/>
          </a:prstGeom>
          <a:noFill/>
        </p:spPr>
        <p:txBody>
          <a:bodyPr wrap="square">
            <a:spAutoFit/>
          </a:bodyPr>
          <a:lstStyle/>
          <a:p>
            <a:r>
              <a:rPr lang="en-IN" b="1" dirty="0"/>
              <a:t>6. System Architecture</a:t>
            </a:r>
          </a:p>
          <a:p>
            <a:endParaRPr lang="en-IN" b="1" dirty="0"/>
          </a:p>
          <a:p>
            <a:r>
              <a:rPr lang="en-IN" b="1" dirty="0"/>
              <a:t> </a:t>
            </a:r>
            <a:r>
              <a:rPr lang="en-IN" dirty="0"/>
              <a:t>The project follows a modular structure: </a:t>
            </a:r>
          </a:p>
          <a:p>
            <a:endParaRPr lang="en-IN" dirty="0"/>
          </a:p>
          <a:p>
            <a:r>
              <a:rPr lang="en-IN" dirty="0"/>
              <a:t>   • app.py → Handles user interface and interaction </a:t>
            </a:r>
          </a:p>
          <a:p>
            <a:r>
              <a:rPr lang="en-IN" dirty="0"/>
              <a:t>   • tone_engine.py → Contains logic for generating responses </a:t>
            </a:r>
          </a:p>
          <a:p>
            <a:r>
              <a:rPr lang="en-IN" dirty="0"/>
              <a:t>   • </a:t>
            </a:r>
            <a:r>
              <a:rPr lang="en-IN" dirty="0" err="1"/>
              <a:t>responses.json</a:t>
            </a:r>
            <a:r>
              <a:rPr lang="en-IN" dirty="0"/>
              <a:t> → Stores tone-based responses </a:t>
            </a:r>
          </a:p>
          <a:p>
            <a:r>
              <a:rPr lang="en-IN" dirty="0"/>
              <a:t>   • requirements.txt → Lists required libraries </a:t>
            </a:r>
          </a:p>
          <a:p>
            <a:endParaRPr lang="en-IN" dirty="0"/>
          </a:p>
          <a:p>
            <a:r>
              <a:rPr lang="en-IN" dirty="0"/>
              <a:t>Flow of execution: </a:t>
            </a:r>
          </a:p>
          <a:p>
            <a:r>
              <a:rPr lang="en-IN" dirty="0"/>
              <a:t>User Input → app.py → tone_engine.py → </a:t>
            </a:r>
            <a:r>
              <a:rPr lang="en-IN" dirty="0" err="1"/>
              <a:t>responses.json</a:t>
            </a:r>
            <a:r>
              <a:rPr lang="en-IN" dirty="0"/>
              <a:t> → Output displayed </a:t>
            </a:r>
          </a:p>
          <a:p>
            <a:endParaRPr lang="en-IN" dirty="0"/>
          </a:p>
          <a:p>
            <a:r>
              <a:rPr lang="en-IN" b="1" dirty="0"/>
              <a:t>7. Features </a:t>
            </a:r>
          </a:p>
          <a:p>
            <a:endParaRPr lang="en-IN" b="1" dirty="0"/>
          </a:p>
          <a:p>
            <a:r>
              <a:rPr lang="en-IN" dirty="0"/>
              <a:t>   • Dual tone system (Professional &amp; Personal) </a:t>
            </a:r>
          </a:p>
          <a:p>
            <a:r>
              <a:rPr lang="en-IN" dirty="0"/>
              <a:t>   • Interactive chatbot interface </a:t>
            </a:r>
          </a:p>
          <a:p>
            <a:r>
              <a:rPr lang="en-IN" dirty="0"/>
              <a:t>   • Real-time response generation </a:t>
            </a:r>
          </a:p>
          <a:p>
            <a:r>
              <a:rPr lang="en-IN" dirty="0"/>
              <a:t>   • Tone explanation for learning </a:t>
            </a:r>
          </a:p>
          <a:p>
            <a:r>
              <a:rPr lang="en-IN" dirty="0"/>
              <a:t>   • Simple and user-friendly design </a:t>
            </a:r>
          </a:p>
        </p:txBody>
      </p:sp>
    </p:spTree>
    <p:extLst>
      <p:ext uri="{BB962C8B-B14F-4D97-AF65-F5344CB8AC3E}">
        <p14:creationId xmlns:p14="http://schemas.microsoft.com/office/powerpoint/2010/main" val="211279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59C008-4BC2-5786-ADA8-0C9E9F9FEB08}"/>
              </a:ext>
            </a:extLst>
          </p:cNvPr>
          <p:cNvSpPr txBox="1"/>
          <p:nvPr/>
        </p:nvSpPr>
        <p:spPr>
          <a:xfrm>
            <a:off x="1366683" y="751600"/>
            <a:ext cx="9566788" cy="5355312"/>
          </a:xfrm>
          <a:prstGeom prst="rect">
            <a:avLst/>
          </a:prstGeom>
          <a:noFill/>
        </p:spPr>
        <p:txBody>
          <a:bodyPr wrap="square">
            <a:spAutoFit/>
          </a:bodyPr>
          <a:lstStyle/>
          <a:p>
            <a:r>
              <a:rPr lang="en-IN" b="1" dirty="0"/>
              <a:t>8. Implementation </a:t>
            </a:r>
          </a:p>
          <a:p>
            <a:endParaRPr lang="en-IN" b="1" dirty="0"/>
          </a:p>
          <a:p>
            <a:r>
              <a:rPr lang="en-IN" dirty="0"/>
              <a:t>The chatbot works using basic Natural Language Processing (NLP) techniques:</a:t>
            </a:r>
          </a:p>
          <a:p>
            <a:endParaRPr lang="en-IN" dirty="0"/>
          </a:p>
          <a:p>
            <a:r>
              <a:rPr lang="en-IN" dirty="0"/>
              <a:t>    • User input is converted to lowercase </a:t>
            </a:r>
          </a:p>
          <a:p>
            <a:r>
              <a:rPr lang="en-IN" dirty="0"/>
              <a:t>    • Keywords like "hello", "how are you", "bye" are detected </a:t>
            </a:r>
          </a:p>
          <a:p>
            <a:r>
              <a:rPr lang="en-IN" dirty="0"/>
              <a:t>    • Based on detected intent, a response is selected</a:t>
            </a:r>
          </a:p>
          <a:p>
            <a:r>
              <a:rPr lang="en-IN" dirty="0"/>
              <a:t>    • Tone selection determines response style </a:t>
            </a:r>
          </a:p>
          <a:p>
            <a:r>
              <a:rPr lang="en-IN" dirty="0"/>
              <a:t>    • Explanation is provided for learning clarity </a:t>
            </a:r>
          </a:p>
          <a:p>
            <a:endParaRPr lang="en-IN" dirty="0"/>
          </a:p>
          <a:p>
            <a:endParaRPr lang="en-IN" dirty="0"/>
          </a:p>
          <a:p>
            <a:r>
              <a:rPr lang="en-IN" b="1" dirty="0"/>
              <a:t>9. Challenges Faced </a:t>
            </a:r>
          </a:p>
          <a:p>
            <a:endParaRPr lang="en-IN" b="1" dirty="0"/>
          </a:p>
          <a:p>
            <a:r>
              <a:rPr lang="en-IN" dirty="0"/>
              <a:t>   • Understanding how to structure a project properly </a:t>
            </a:r>
          </a:p>
          <a:p>
            <a:r>
              <a:rPr lang="en-IN" dirty="0"/>
              <a:t>   • Managing multiple files and connecting them </a:t>
            </a:r>
          </a:p>
          <a:p>
            <a:r>
              <a:rPr lang="en-IN" dirty="0"/>
              <a:t>   • Handling errors during </a:t>
            </a:r>
            <a:r>
              <a:rPr lang="en-IN" dirty="0" err="1"/>
              <a:t>Streamlit</a:t>
            </a:r>
            <a:r>
              <a:rPr lang="en-IN" dirty="0"/>
              <a:t> deployment </a:t>
            </a:r>
          </a:p>
          <a:p>
            <a:r>
              <a:rPr lang="en-IN" dirty="0"/>
              <a:t>   • Ensuring correct file paths and dependencies</a:t>
            </a:r>
          </a:p>
          <a:p>
            <a:endParaRPr lang="en-IN" dirty="0"/>
          </a:p>
          <a:p>
            <a:endParaRPr lang="en-IN" dirty="0"/>
          </a:p>
        </p:txBody>
      </p:sp>
    </p:spTree>
    <p:extLst>
      <p:ext uri="{BB962C8B-B14F-4D97-AF65-F5344CB8AC3E}">
        <p14:creationId xmlns:p14="http://schemas.microsoft.com/office/powerpoint/2010/main" val="1583992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43E2E2-D230-F4F6-786D-7DDD8E1C6AC8}"/>
              </a:ext>
            </a:extLst>
          </p:cNvPr>
          <p:cNvSpPr txBox="1"/>
          <p:nvPr/>
        </p:nvSpPr>
        <p:spPr>
          <a:xfrm>
            <a:off x="1582992" y="772961"/>
            <a:ext cx="8268929" cy="5078313"/>
          </a:xfrm>
          <a:prstGeom prst="rect">
            <a:avLst/>
          </a:prstGeom>
          <a:noFill/>
        </p:spPr>
        <p:txBody>
          <a:bodyPr wrap="square">
            <a:spAutoFit/>
          </a:bodyPr>
          <a:lstStyle/>
          <a:p>
            <a:r>
              <a:rPr lang="en-IN" b="1" dirty="0"/>
              <a:t>10. Learning Outcomes </a:t>
            </a:r>
          </a:p>
          <a:p>
            <a:endParaRPr lang="en-IN" b="1" dirty="0"/>
          </a:p>
          <a:p>
            <a:r>
              <a:rPr lang="en-IN" dirty="0"/>
              <a:t>Through this project, I learned: </a:t>
            </a:r>
          </a:p>
          <a:p>
            <a:endParaRPr lang="en-IN" dirty="0"/>
          </a:p>
          <a:p>
            <a:r>
              <a:rPr lang="en-IN" dirty="0"/>
              <a:t>   • Basics of AI chatbot development </a:t>
            </a:r>
          </a:p>
          <a:p>
            <a:r>
              <a:rPr lang="en-IN" dirty="0"/>
              <a:t>   • Working with </a:t>
            </a:r>
            <a:r>
              <a:rPr lang="en-IN" dirty="0" err="1"/>
              <a:t>Streamlit</a:t>
            </a:r>
            <a:r>
              <a:rPr lang="en-IN" dirty="0"/>
              <a:t> for UI </a:t>
            </a:r>
          </a:p>
          <a:p>
            <a:r>
              <a:rPr lang="en-IN" dirty="0"/>
              <a:t>   • Importance of modular coding </a:t>
            </a:r>
          </a:p>
          <a:p>
            <a:r>
              <a:rPr lang="en-IN" dirty="0"/>
              <a:t>   • Using GitHub for version control </a:t>
            </a:r>
          </a:p>
          <a:p>
            <a:r>
              <a:rPr lang="en-IN" dirty="0"/>
              <a:t>   • Deploying applications online </a:t>
            </a:r>
          </a:p>
          <a:p>
            <a:r>
              <a:rPr lang="en-IN" dirty="0"/>
              <a:t>   • Debugging and solving real-world issues </a:t>
            </a:r>
          </a:p>
          <a:p>
            <a:endParaRPr lang="en-IN" dirty="0"/>
          </a:p>
          <a:p>
            <a:r>
              <a:rPr lang="en-IN" b="1" dirty="0"/>
              <a:t>11. Future Scope </a:t>
            </a:r>
          </a:p>
          <a:p>
            <a:endParaRPr lang="en-IN" b="1" dirty="0"/>
          </a:p>
          <a:p>
            <a:r>
              <a:rPr lang="en-IN" b="1" dirty="0"/>
              <a:t>   </a:t>
            </a:r>
            <a:r>
              <a:rPr lang="en-IN" dirty="0"/>
              <a:t>• Add support for multiple languages </a:t>
            </a:r>
          </a:p>
          <a:p>
            <a:r>
              <a:rPr lang="en-IN" dirty="0"/>
              <a:t>   • Integrate advanced AI models (like GPT) </a:t>
            </a:r>
          </a:p>
          <a:p>
            <a:r>
              <a:rPr lang="en-IN" dirty="0"/>
              <a:t>   • Add voice-based interaction</a:t>
            </a:r>
          </a:p>
          <a:p>
            <a:r>
              <a:rPr lang="en-IN" dirty="0"/>
              <a:t>   • Expand tone categories (formal, polite, humorous, etc.) </a:t>
            </a:r>
          </a:p>
          <a:p>
            <a:r>
              <a:rPr lang="en-IN" dirty="0"/>
              <a:t>   • Improve NLP for better understanding</a:t>
            </a:r>
          </a:p>
        </p:txBody>
      </p:sp>
    </p:spTree>
    <p:extLst>
      <p:ext uri="{BB962C8B-B14F-4D97-AF65-F5344CB8AC3E}">
        <p14:creationId xmlns:p14="http://schemas.microsoft.com/office/powerpoint/2010/main" val="2259178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62F332-7C7D-F8AA-C246-1701D10C6121}"/>
              </a:ext>
            </a:extLst>
          </p:cNvPr>
          <p:cNvSpPr txBox="1"/>
          <p:nvPr/>
        </p:nvSpPr>
        <p:spPr>
          <a:xfrm>
            <a:off x="1592825" y="1208123"/>
            <a:ext cx="8583561" cy="1754326"/>
          </a:xfrm>
          <a:prstGeom prst="rect">
            <a:avLst/>
          </a:prstGeom>
          <a:noFill/>
        </p:spPr>
        <p:txBody>
          <a:bodyPr wrap="square">
            <a:spAutoFit/>
          </a:bodyPr>
          <a:lstStyle/>
          <a:p>
            <a:r>
              <a:rPr lang="en-IN" b="1" dirty="0"/>
              <a:t>12. Conclusion</a:t>
            </a:r>
          </a:p>
          <a:p>
            <a:endParaRPr lang="en-IN" b="1" dirty="0"/>
          </a:p>
          <a:p>
            <a:r>
              <a:rPr lang="en-IN" b="1" dirty="0"/>
              <a:t> </a:t>
            </a:r>
            <a:r>
              <a:rPr lang="en-IN" dirty="0" err="1"/>
              <a:t>LinguaTone</a:t>
            </a:r>
            <a:r>
              <a:rPr lang="en-IN" dirty="0"/>
              <a:t> AI successfully demonstrates how AI can be used to improve communication skills through interactive learning. The project provides a simple yet effective solution to a real-world problem and lays the foundation for more advanced AI-based language learning systems.</a:t>
            </a:r>
          </a:p>
        </p:txBody>
      </p:sp>
    </p:spTree>
    <p:extLst>
      <p:ext uri="{BB962C8B-B14F-4D97-AF65-F5344CB8AC3E}">
        <p14:creationId xmlns:p14="http://schemas.microsoft.com/office/powerpoint/2010/main" val="22926605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732</Words>
  <Application>Microsoft Office PowerPoint</Application>
  <PresentationFormat>Widescreen</PresentationFormat>
  <Paragraphs>101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radhika karoli</dc:creator>
  <cp:lastModifiedBy>radhika karoli</cp:lastModifiedBy>
  <cp:revision>1</cp:revision>
  <dcterms:created xsi:type="dcterms:W3CDTF">2026-09-18T17:13:14Z</dcterms:created>
  <dcterms:modified xsi:type="dcterms:W3CDTF">2026-09-18T17:32:33Z</dcterms:modified>
</cp:coreProperties>
</file>